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Quattrocento Sans" charset="-122" pitchFamily="34"/>
      <p:regular r:id="rId13"/>
    </p:embeddedFont>
    <p:embeddedFont>
      <p:font typeface="Liter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qf4ut5vzfkik/mnt/agents/output/flametree_ai/images/1_Dark_abstract_technology_wallpaper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3C">
                  <a:alpha val="60000"/>
                </a:srgbClr>
              </a:gs>
              <a:gs pos="50000">
                <a:srgbClr val="1B2A3C">
                  <a:alpha val="87000"/>
                </a:srgbClr>
              </a:gs>
              <a:gs pos="100000">
                <a:srgbClr val="1B2A3C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2984500"/>
            <a:ext cx="1270000" cy="381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FLAMETREE AI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7493000" y="4445000"/>
            <a:ext cx="1270000" cy="381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762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OPSL Internship Assignment Submission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4th June 2025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762000"/>
            <a:ext cx="508000" cy="508000"/>
          </a:xfrm>
          <a:prstGeom prst="rect">
            <a:avLst/>
          </a:prstGeom>
          <a:solidFill>
            <a:srgbClr val="D4930D">
              <a:alpha val="13333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4986000" y="7874000"/>
            <a:ext cx="508000" cy="508000"/>
          </a:xfrm>
          <a:prstGeom prst="rect">
            <a:avLst/>
          </a:prstGeom>
          <a:solidFill>
            <a:srgbClr val="D4930D">
              <a:alpha val="13333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FlameTree AI?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762000" cy="381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812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with Traditional Communication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231495"/>
            <a:ext cx="8128000" cy="234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companies still rely 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basic emails and scripted chatbots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provide generic answers, ignoring the specific context and unique needs of each user.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leads to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93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frustrating customer experiences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piles of routine work for service teams.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826000"/>
            <a:ext cx="8128000" cy="12700"/>
          </a:xfrm>
          <a:prstGeom prst="rect">
            <a:avLst/>
          </a:prstGeom>
          <a:solidFill>
            <a:srgbClr val="E0DDD6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5080000"/>
            <a:ext cx="812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FlameTree AI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5842000"/>
            <a:ext cx="812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FlameTree AI enables businesses to build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agents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capable of engaging in real conversations across digital channels.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delivers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93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personalized experiences at scale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while helping businesses save on operational costs.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98000" y="1524000"/>
            <a:ext cx="6096000" cy="69215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0" name="Shape 8"/>
          <p:cNvSpPr/>
          <p:nvPr/>
        </p:nvSpPr>
        <p:spPr>
          <a:xfrm>
            <a:off x="9975850" y="2032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0" y="2032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Conversations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0" y="24765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dialogue across web, mobile, and messaging platforms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33000" y="3429000"/>
            <a:ext cx="4953000" cy="12700"/>
          </a:xfrm>
          <a:prstGeom prst="rect">
            <a:avLst/>
          </a:prstGeom>
          <a:solidFill>
            <a:srgbClr val="FFFFFF">
              <a:alpha val="13333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04425" y="374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0" y="3746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at Scale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0" y="41910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responses tailored to each individual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33000" y="5143500"/>
            <a:ext cx="4953000" cy="12700"/>
          </a:xfrm>
          <a:prstGeom prst="rect">
            <a:avLst/>
          </a:prstGeom>
          <a:solidFill>
            <a:srgbClr val="FFFFFF">
              <a:alpha val="13333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330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0" y="5461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0" y="59055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operational costs through intelligent automation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3000" y="6858000"/>
            <a:ext cx="4953000" cy="12700"/>
          </a:xfrm>
          <a:prstGeom prst="rect">
            <a:avLst/>
          </a:prstGeom>
          <a:solidFill>
            <a:srgbClr val="FFFFFF">
              <a:alpha val="13333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033000" y="717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0" y="7175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Growth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0" y="76200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 sales opportunities and recovering lost customers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801100"/>
            <a:ext cx="14732000" cy="254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2000" y="8483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&amp; Capabilities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762000" cy="381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6990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540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Variety of AI Models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29845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GPT, LLaMA, and Qwen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allowing organizations to choose the best-fit model for their specific needs.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67425" y="1905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85725"/>
                </a:moveTo>
                <a:cubicBezTo>
                  <a:pt x="0" y="54203"/>
                  <a:pt x="25628" y="28575"/>
                  <a:pt x="57150" y="28575"/>
                </a:cubicBezTo>
                <a:lnTo>
                  <a:pt x="457200" y="28575"/>
                </a:lnTo>
                <a:cubicBezTo>
                  <a:pt x="488722" y="28575"/>
                  <a:pt x="514350" y="54203"/>
                  <a:pt x="514350" y="85725"/>
                </a:cubicBezTo>
                <a:lnTo>
                  <a:pt x="0" y="85725"/>
                </a:lnTo>
                <a:close/>
                <a:moveTo>
                  <a:pt x="0" y="128588"/>
                </a:moveTo>
                <a:lnTo>
                  <a:pt x="514350" y="128588"/>
                </a:lnTo>
                <a:lnTo>
                  <a:pt x="514350" y="371475"/>
                </a:lnTo>
                <a:cubicBezTo>
                  <a:pt x="514350" y="402997"/>
                  <a:pt x="488722" y="428625"/>
                  <a:pt x="4572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128588"/>
                </a:lnTo>
                <a:close/>
                <a:moveTo>
                  <a:pt x="220831" y="371475"/>
                </a:moveTo>
                <a:cubicBezTo>
                  <a:pt x="238869" y="371475"/>
                  <a:pt x="252353" y="354151"/>
                  <a:pt x="240834" y="340221"/>
                </a:cubicBezTo>
                <a:cubicBezTo>
                  <a:pt x="227707" y="324416"/>
                  <a:pt x="207883" y="314325"/>
                  <a:pt x="185738" y="314325"/>
                </a:cubicBezTo>
                <a:lnTo>
                  <a:pt x="128588" y="314325"/>
                </a:lnTo>
                <a:cubicBezTo>
                  <a:pt x="106442" y="314325"/>
                  <a:pt x="86618" y="324416"/>
                  <a:pt x="73491" y="340221"/>
                </a:cubicBezTo>
                <a:cubicBezTo>
                  <a:pt x="61972" y="354151"/>
                  <a:pt x="75456" y="371475"/>
                  <a:pt x="93494" y="371475"/>
                </a:cubicBezTo>
                <a:lnTo>
                  <a:pt x="220742" y="371475"/>
                </a:lnTo>
                <a:close/>
                <a:moveTo>
                  <a:pt x="157163" y="278606"/>
                </a:moveTo>
                <a:cubicBezTo>
                  <a:pt x="184762" y="278606"/>
                  <a:pt x="207169" y="256199"/>
                  <a:pt x="207169" y="228600"/>
                </a:cubicBezTo>
                <a:cubicBezTo>
                  <a:pt x="207169" y="201001"/>
                  <a:pt x="184762" y="178594"/>
                  <a:pt x="157163" y="178594"/>
                </a:cubicBezTo>
                <a:cubicBezTo>
                  <a:pt x="129563" y="178594"/>
                  <a:pt x="107156" y="201001"/>
                  <a:pt x="107156" y="228600"/>
                </a:cubicBezTo>
                <a:cubicBezTo>
                  <a:pt x="107156" y="256199"/>
                  <a:pt x="129563" y="278606"/>
                  <a:pt x="157163" y="278606"/>
                </a:cubicBezTo>
                <a:close/>
                <a:moveTo>
                  <a:pt x="321469" y="185738"/>
                </a:moveTo>
                <a:cubicBezTo>
                  <a:pt x="309592" y="185738"/>
                  <a:pt x="300038" y="195292"/>
                  <a:pt x="300038" y="207169"/>
                </a:cubicBezTo>
                <a:cubicBezTo>
                  <a:pt x="300038" y="219045"/>
                  <a:pt x="309592" y="228600"/>
                  <a:pt x="321469" y="228600"/>
                </a:cubicBezTo>
                <a:lnTo>
                  <a:pt x="421481" y="228600"/>
                </a:lnTo>
                <a:cubicBezTo>
                  <a:pt x="433358" y="228600"/>
                  <a:pt x="442913" y="219045"/>
                  <a:pt x="442913" y="207169"/>
                </a:cubicBezTo>
                <a:cubicBezTo>
                  <a:pt x="442913" y="195292"/>
                  <a:pt x="433358" y="185738"/>
                  <a:pt x="421481" y="185738"/>
                </a:cubicBezTo>
                <a:lnTo>
                  <a:pt x="321469" y="185738"/>
                </a:lnTo>
                <a:close/>
                <a:moveTo>
                  <a:pt x="321469" y="271463"/>
                </a:moveTo>
                <a:cubicBezTo>
                  <a:pt x="309592" y="271463"/>
                  <a:pt x="300038" y="281017"/>
                  <a:pt x="300038" y="292894"/>
                </a:cubicBezTo>
                <a:cubicBezTo>
                  <a:pt x="300038" y="304770"/>
                  <a:pt x="309592" y="314325"/>
                  <a:pt x="321469" y="314325"/>
                </a:cubicBezTo>
                <a:lnTo>
                  <a:pt x="421481" y="314325"/>
                </a:lnTo>
                <a:cubicBezTo>
                  <a:pt x="433358" y="314325"/>
                  <a:pt x="442913" y="304770"/>
                  <a:pt x="442913" y="292894"/>
                </a:cubicBezTo>
                <a:cubicBezTo>
                  <a:pt x="442913" y="281017"/>
                  <a:pt x="433358" y="271463"/>
                  <a:pt x="421481" y="271463"/>
                </a:cubicBezTo>
                <a:lnTo>
                  <a:pt x="321469" y="271463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540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Customer Context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0" y="29845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insights into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history, products used, and past interactions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personalized engagement.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125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540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Multichannel &amp; Multilingual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12500" y="29845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 customers 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150+ languages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web, mobile, WhatsApp, and SMS channels.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63900" y="5143500"/>
            <a:ext cx="46990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14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28575" y="25608"/>
                  <a:pt x="54183" y="0"/>
                  <a:pt x="85725" y="0"/>
                </a:cubicBezTo>
                <a:cubicBezTo>
                  <a:pt x="117267" y="0"/>
                  <a:pt x="142875" y="25608"/>
                  <a:pt x="142875" y="57150"/>
                </a:cubicBezTo>
                <a:cubicBezTo>
                  <a:pt x="142875" y="88692"/>
                  <a:pt x="117267" y="114300"/>
                  <a:pt x="85725" y="114300"/>
                </a:cubicBezTo>
                <a:cubicBezTo>
                  <a:pt x="54183" y="114300"/>
                  <a:pt x="28575" y="88692"/>
                  <a:pt x="28575" y="57150"/>
                </a:cubicBezTo>
                <a:close/>
                <a:moveTo>
                  <a:pt x="0" y="200025"/>
                </a:moveTo>
                <a:cubicBezTo>
                  <a:pt x="0" y="168503"/>
                  <a:pt x="25628" y="142875"/>
                  <a:pt x="57150" y="142875"/>
                </a:cubicBezTo>
                <a:lnTo>
                  <a:pt x="114300" y="142875"/>
                </a:lnTo>
                <a:cubicBezTo>
                  <a:pt x="117157" y="142875"/>
                  <a:pt x="120015" y="143054"/>
                  <a:pt x="122783" y="143500"/>
                </a:cubicBezTo>
                <a:lnTo>
                  <a:pt x="83135" y="183148"/>
                </a:lnTo>
                <a:cubicBezTo>
                  <a:pt x="58043" y="208240"/>
                  <a:pt x="58043" y="248960"/>
                  <a:pt x="83135" y="274052"/>
                </a:cubicBezTo>
                <a:lnTo>
                  <a:pt x="133142" y="324058"/>
                </a:lnTo>
                <a:cubicBezTo>
                  <a:pt x="136178" y="327094"/>
                  <a:pt x="139392" y="329773"/>
                  <a:pt x="142875" y="332095"/>
                </a:cubicBezTo>
                <a:lnTo>
                  <a:pt x="142875" y="414338"/>
                </a:lnTo>
                <a:cubicBezTo>
                  <a:pt x="142875" y="438001"/>
                  <a:pt x="123676" y="457200"/>
                  <a:pt x="100013" y="457200"/>
                </a:cubicBezTo>
                <a:lnTo>
                  <a:pt x="71438" y="457200"/>
                </a:lnTo>
                <a:cubicBezTo>
                  <a:pt x="47774" y="457200"/>
                  <a:pt x="28575" y="438001"/>
                  <a:pt x="28575" y="414338"/>
                </a:cubicBezTo>
                <a:lnTo>
                  <a:pt x="28575" y="306645"/>
                </a:lnTo>
                <a:cubicBezTo>
                  <a:pt x="11519" y="296823"/>
                  <a:pt x="0" y="278338"/>
                  <a:pt x="0" y="257175"/>
                </a:cubicBezTo>
                <a:lnTo>
                  <a:pt x="0" y="200025"/>
                </a:lnTo>
                <a:close/>
                <a:moveTo>
                  <a:pt x="314325" y="57150"/>
                </a:moveTo>
                <a:cubicBezTo>
                  <a:pt x="314325" y="25608"/>
                  <a:pt x="339933" y="0"/>
                  <a:pt x="371475" y="0"/>
                </a:cubicBezTo>
                <a:cubicBezTo>
                  <a:pt x="403017" y="0"/>
                  <a:pt x="428625" y="25608"/>
                  <a:pt x="428625" y="57150"/>
                </a:cubicBezTo>
                <a:cubicBezTo>
                  <a:pt x="428625" y="88692"/>
                  <a:pt x="403017" y="114300"/>
                  <a:pt x="371475" y="114300"/>
                </a:cubicBezTo>
                <a:cubicBezTo>
                  <a:pt x="339933" y="114300"/>
                  <a:pt x="314325" y="88692"/>
                  <a:pt x="314325" y="57150"/>
                </a:cubicBezTo>
                <a:close/>
                <a:moveTo>
                  <a:pt x="374065" y="183148"/>
                </a:moveTo>
                <a:lnTo>
                  <a:pt x="334417" y="143500"/>
                </a:lnTo>
                <a:cubicBezTo>
                  <a:pt x="337185" y="143054"/>
                  <a:pt x="340043" y="142875"/>
                  <a:pt x="342900" y="142875"/>
                </a:cubicBezTo>
                <a:lnTo>
                  <a:pt x="400050" y="142875"/>
                </a:lnTo>
                <a:cubicBezTo>
                  <a:pt x="431572" y="142875"/>
                  <a:pt x="457200" y="168503"/>
                  <a:pt x="457200" y="200025"/>
                </a:cubicBezTo>
                <a:lnTo>
                  <a:pt x="457200" y="257175"/>
                </a:lnTo>
                <a:cubicBezTo>
                  <a:pt x="457200" y="278338"/>
                  <a:pt x="445681" y="296823"/>
                  <a:pt x="428625" y="306645"/>
                </a:cubicBezTo>
                <a:lnTo>
                  <a:pt x="428625" y="414338"/>
                </a:lnTo>
                <a:cubicBezTo>
                  <a:pt x="428625" y="438001"/>
                  <a:pt x="409426" y="457200"/>
                  <a:pt x="385763" y="457200"/>
                </a:cubicBezTo>
                <a:lnTo>
                  <a:pt x="357188" y="457200"/>
                </a:lnTo>
                <a:cubicBezTo>
                  <a:pt x="333524" y="457200"/>
                  <a:pt x="314325" y="438001"/>
                  <a:pt x="314325" y="414338"/>
                </a:cubicBezTo>
                <a:lnTo>
                  <a:pt x="314325" y="332095"/>
                </a:lnTo>
                <a:cubicBezTo>
                  <a:pt x="317808" y="329773"/>
                  <a:pt x="321022" y="327094"/>
                  <a:pt x="324058" y="324058"/>
                </a:cubicBezTo>
                <a:lnTo>
                  <a:pt x="374065" y="274052"/>
                </a:lnTo>
                <a:cubicBezTo>
                  <a:pt x="399157" y="248960"/>
                  <a:pt x="399157" y="208240"/>
                  <a:pt x="374065" y="183148"/>
                </a:cubicBezTo>
                <a:close/>
                <a:moveTo>
                  <a:pt x="270391" y="158770"/>
                </a:moveTo>
                <a:cubicBezTo>
                  <a:pt x="278428" y="155466"/>
                  <a:pt x="287625" y="157252"/>
                  <a:pt x="293787" y="163413"/>
                </a:cubicBezTo>
                <a:lnTo>
                  <a:pt x="343793" y="213420"/>
                </a:lnTo>
                <a:cubicBezTo>
                  <a:pt x="352187" y="221813"/>
                  <a:pt x="352187" y="235387"/>
                  <a:pt x="343793" y="243691"/>
                </a:cubicBezTo>
                <a:lnTo>
                  <a:pt x="293787" y="293697"/>
                </a:lnTo>
                <a:cubicBezTo>
                  <a:pt x="287625" y="299859"/>
                  <a:pt x="278428" y="301645"/>
                  <a:pt x="270391" y="298341"/>
                </a:cubicBezTo>
                <a:cubicBezTo>
                  <a:pt x="262354" y="295037"/>
                  <a:pt x="257175" y="287268"/>
                  <a:pt x="257175" y="278606"/>
                </a:cubicBezTo>
                <a:lnTo>
                  <a:pt x="257175" y="257175"/>
                </a:lnTo>
                <a:lnTo>
                  <a:pt x="200025" y="257175"/>
                </a:lnTo>
                <a:lnTo>
                  <a:pt x="200025" y="278606"/>
                </a:lnTo>
                <a:cubicBezTo>
                  <a:pt x="200025" y="287268"/>
                  <a:pt x="194846" y="295126"/>
                  <a:pt x="186809" y="298430"/>
                </a:cubicBezTo>
                <a:cubicBezTo>
                  <a:pt x="178772" y="301734"/>
                  <a:pt x="169575" y="299948"/>
                  <a:pt x="163413" y="293787"/>
                </a:cubicBezTo>
                <a:lnTo>
                  <a:pt x="113407" y="243780"/>
                </a:lnTo>
                <a:cubicBezTo>
                  <a:pt x="105013" y="235387"/>
                  <a:pt x="105013" y="221813"/>
                  <a:pt x="113407" y="213509"/>
                </a:cubicBezTo>
                <a:lnTo>
                  <a:pt x="163413" y="163503"/>
                </a:lnTo>
                <a:cubicBezTo>
                  <a:pt x="169575" y="157341"/>
                  <a:pt x="178772" y="155555"/>
                  <a:pt x="186809" y="158859"/>
                </a:cubicBezTo>
                <a:cubicBezTo>
                  <a:pt x="194846" y="162163"/>
                  <a:pt x="200025" y="169932"/>
                  <a:pt x="200025" y="178594"/>
                </a:cubicBezTo>
                <a:lnTo>
                  <a:pt x="200025" y="200025"/>
                </a:lnTo>
                <a:lnTo>
                  <a:pt x="257175" y="200025"/>
                </a:lnTo>
                <a:lnTo>
                  <a:pt x="257175" y="178594"/>
                </a:lnTo>
                <a:cubicBezTo>
                  <a:pt x="257175" y="169932"/>
                  <a:pt x="262354" y="162074"/>
                  <a:pt x="270391" y="158770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6096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 AI-Human Handoff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81400" y="65405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transition between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 and human reps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enabling collaborative customer support.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80400" y="5143500"/>
            <a:ext cx="46990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79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2769" y="57150"/>
                  <a:pt x="0" y="69919"/>
                  <a:pt x="0" y="85725"/>
                </a:cubicBezTo>
                <a:cubicBezTo>
                  <a:pt x="0" y="101531"/>
                  <a:pt x="12769" y="114300"/>
                  <a:pt x="28575" y="114300"/>
                </a:cubicBezTo>
                <a:lnTo>
                  <a:pt x="105995" y="114300"/>
                </a:lnTo>
                <a:cubicBezTo>
                  <a:pt x="116979" y="139571"/>
                  <a:pt x="142161" y="157163"/>
                  <a:pt x="171450" y="157163"/>
                </a:cubicBezTo>
                <a:cubicBezTo>
                  <a:pt x="200739" y="157163"/>
                  <a:pt x="225921" y="139571"/>
                  <a:pt x="236905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236905" y="57150"/>
                </a:lnTo>
                <a:cubicBezTo>
                  <a:pt x="225921" y="31879"/>
                  <a:pt x="200739" y="14288"/>
                  <a:pt x="171450" y="14288"/>
                </a:cubicBezTo>
                <a:cubicBezTo>
                  <a:pt x="142161" y="14288"/>
                  <a:pt x="116979" y="31879"/>
                  <a:pt x="105995" y="57150"/>
                </a:cubicBezTo>
                <a:lnTo>
                  <a:pt x="28575" y="57150"/>
                </a:lnTo>
                <a:close/>
                <a:moveTo>
                  <a:pt x="28575" y="200025"/>
                </a:move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248870" y="257175"/>
                </a:lnTo>
                <a:cubicBezTo>
                  <a:pt x="259854" y="282446"/>
                  <a:pt x="285036" y="300038"/>
                  <a:pt x="314325" y="300038"/>
                </a:cubicBezTo>
                <a:cubicBezTo>
                  <a:pt x="343614" y="300038"/>
                  <a:pt x="368796" y="282446"/>
                  <a:pt x="37978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379780" y="200025"/>
                </a:lnTo>
                <a:cubicBezTo>
                  <a:pt x="368796" y="174754"/>
                  <a:pt x="343614" y="157163"/>
                  <a:pt x="314325" y="157163"/>
                </a:cubicBezTo>
                <a:cubicBezTo>
                  <a:pt x="285036" y="157163"/>
                  <a:pt x="259854" y="174754"/>
                  <a:pt x="248870" y="200025"/>
                </a:cubicBezTo>
                <a:lnTo>
                  <a:pt x="28575" y="200025"/>
                </a:lnTo>
                <a:close/>
                <a:moveTo>
                  <a:pt x="28575" y="342900"/>
                </a:moveTo>
                <a:cubicBezTo>
                  <a:pt x="12769" y="342900"/>
                  <a:pt x="0" y="355669"/>
                  <a:pt x="0" y="371475"/>
                </a:cubicBezTo>
                <a:cubicBezTo>
                  <a:pt x="0" y="387281"/>
                  <a:pt x="12769" y="400050"/>
                  <a:pt x="28575" y="400050"/>
                </a:cubicBezTo>
                <a:lnTo>
                  <a:pt x="77420" y="400050"/>
                </a:lnTo>
                <a:cubicBezTo>
                  <a:pt x="88404" y="425321"/>
                  <a:pt x="113586" y="442913"/>
                  <a:pt x="142875" y="442913"/>
                </a:cubicBezTo>
                <a:cubicBezTo>
                  <a:pt x="172164" y="442913"/>
                  <a:pt x="197346" y="425321"/>
                  <a:pt x="20833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208330" y="342900"/>
                </a:lnTo>
                <a:cubicBezTo>
                  <a:pt x="197346" y="317629"/>
                  <a:pt x="172164" y="300038"/>
                  <a:pt x="142875" y="300038"/>
                </a:cubicBezTo>
                <a:cubicBezTo>
                  <a:pt x="113586" y="300038"/>
                  <a:pt x="88404" y="317629"/>
                  <a:pt x="77420" y="342900"/>
                </a:cubicBezTo>
                <a:lnTo>
                  <a:pt x="28575" y="342900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2" name="Text 20"/>
          <p:cNvSpPr/>
          <p:nvPr/>
        </p:nvSpPr>
        <p:spPr>
          <a:xfrm>
            <a:off x="8597900" y="6096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Controlled AI Behavior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97900" y="65405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instruction system ensuring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with business rules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regulatory standards.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801100"/>
            <a:ext cx="14732000" cy="254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483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Banking Use Case: Challenge &amp;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762000" cy="381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048500" cy="692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841500"/>
            <a:ext cx="1524000" cy="4064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5400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Overwhelmed by Routine Inquiries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3111500"/>
            <a:ext cx="6413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Banks face a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volume of routine customer inquiries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overwhelm call centers and online support channels.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Customers contact banks for simple tasks: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5168900"/>
            <a:ext cx="6159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Checking account balances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Inquiring about transaction history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Blocking lost cards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Resetting passwords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7937500"/>
            <a:ext cx="641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Long wait times, high costs, inconsistent quality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1524000"/>
            <a:ext cx="7048500" cy="6921500"/>
          </a:xfrm>
          <a:prstGeom prst="rect">
            <a:avLst/>
          </a:prstGeom>
          <a:solidFill>
            <a:srgbClr val="1B2A3C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63000" y="1841500"/>
            <a:ext cx="1524000" cy="4064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0" y="2540000"/>
            <a:ext cx="6413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FlameTree AI Helps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82050" y="3238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0"/>
                </a:moveTo>
                <a:cubicBezTo>
                  <a:pt x="122813" y="0"/>
                  <a:pt x="114300" y="8513"/>
                  <a:pt x="114300" y="19050"/>
                </a:cubicBezTo>
                <a:lnTo>
                  <a:pt x="114300" y="20955"/>
                </a:lnTo>
                <a:cubicBezTo>
                  <a:pt x="70842" y="29766"/>
                  <a:pt x="38100" y="68223"/>
                  <a:pt x="38100" y="114300"/>
                </a:cubicBezTo>
                <a:lnTo>
                  <a:pt x="38100" y="127218"/>
                </a:lnTo>
                <a:cubicBezTo>
                  <a:pt x="38100" y="155853"/>
                  <a:pt x="28337" y="183654"/>
                  <a:pt x="10478" y="206038"/>
                </a:cubicBezTo>
                <a:lnTo>
                  <a:pt x="4643" y="213300"/>
                </a:lnTo>
                <a:cubicBezTo>
                  <a:pt x="1607" y="217051"/>
                  <a:pt x="0" y="221694"/>
                  <a:pt x="0" y="226516"/>
                </a:cubicBezTo>
                <a:cubicBezTo>
                  <a:pt x="0" y="238185"/>
                  <a:pt x="9465" y="247650"/>
                  <a:pt x="21134" y="247650"/>
                </a:cubicBezTo>
                <a:lnTo>
                  <a:pt x="245507" y="247650"/>
                </a:lnTo>
                <a:cubicBezTo>
                  <a:pt x="257175" y="247650"/>
                  <a:pt x="266640" y="238185"/>
                  <a:pt x="266640" y="226516"/>
                </a:cubicBezTo>
                <a:cubicBezTo>
                  <a:pt x="266640" y="221694"/>
                  <a:pt x="265033" y="217051"/>
                  <a:pt x="261997" y="213300"/>
                </a:cubicBezTo>
                <a:lnTo>
                  <a:pt x="256163" y="206038"/>
                </a:lnTo>
                <a:cubicBezTo>
                  <a:pt x="238363" y="183654"/>
                  <a:pt x="228600" y="155853"/>
                  <a:pt x="228600" y="127218"/>
                </a:cubicBezTo>
                <a:lnTo>
                  <a:pt x="228600" y="114300"/>
                </a:lnTo>
                <a:cubicBezTo>
                  <a:pt x="228600" y="68223"/>
                  <a:pt x="195858" y="29766"/>
                  <a:pt x="152400" y="20955"/>
                </a:cubicBezTo>
                <a:lnTo>
                  <a:pt x="152400" y="19050"/>
                </a:lnTo>
                <a:cubicBezTo>
                  <a:pt x="152400" y="8513"/>
                  <a:pt x="143887" y="0"/>
                  <a:pt x="133350" y="0"/>
                </a:cubicBezTo>
                <a:close/>
                <a:moveTo>
                  <a:pt x="96441" y="276225"/>
                </a:moveTo>
                <a:cubicBezTo>
                  <a:pt x="100667" y="292656"/>
                  <a:pt x="115610" y="304800"/>
                  <a:pt x="133350" y="304800"/>
                </a:cubicBezTo>
                <a:cubicBezTo>
                  <a:pt x="151090" y="304800"/>
                  <a:pt x="166033" y="292656"/>
                  <a:pt x="170259" y="276225"/>
                </a:cubicBezTo>
                <a:lnTo>
                  <a:pt x="96441" y="276225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6" name="Text 14"/>
          <p:cNvSpPr/>
          <p:nvPr/>
        </p:nvSpPr>
        <p:spPr>
          <a:xfrm>
            <a:off x="9220200" y="3175000"/>
            <a:ext cx="595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abandoned transactions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proactively reaches out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WhatsApp, SMS, or web chat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63000" y="412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57150"/>
                </a:moveTo>
                <a:cubicBezTo>
                  <a:pt x="304800" y="87035"/>
                  <a:pt x="269617" y="131624"/>
                  <a:pt x="254437" y="149423"/>
                </a:cubicBezTo>
                <a:cubicBezTo>
                  <a:pt x="252174" y="152043"/>
                  <a:pt x="248841" y="153055"/>
                  <a:pt x="245805" y="152400"/>
                </a:cubicBezTo>
                <a:lnTo>
                  <a:pt x="190500" y="152400"/>
                </a:lnTo>
                <a:cubicBezTo>
                  <a:pt x="179963" y="152400"/>
                  <a:pt x="171450" y="160913"/>
                  <a:pt x="171450" y="171450"/>
                </a:cubicBezTo>
                <a:cubicBezTo>
                  <a:pt x="171450" y="181987"/>
                  <a:pt x="179963" y="190500"/>
                  <a:pt x="190500" y="190500"/>
                </a:cubicBezTo>
                <a:lnTo>
                  <a:pt x="247650" y="190500"/>
                </a:lnTo>
                <a:cubicBezTo>
                  <a:pt x="279202" y="190500"/>
                  <a:pt x="304800" y="216098"/>
                  <a:pt x="304800" y="247650"/>
                </a:cubicBezTo>
                <a:cubicBezTo>
                  <a:pt x="304800" y="279202"/>
                  <a:pt x="279202" y="304800"/>
                  <a:pt x="247650" y="304800"/>
                </a:cubicBezTo>
                <a:lnTo>
                  <a:pt x="83106" y="304800"/>
                </a:lnTo>
                <a:cubicBezTo>
                  <a:pt x="88285" y="298906"/>
                  <a:pt x="94595" y="291346"/>
                  <a:pt x="100965" y="282892"/>
                </a:cubicBezTo>
                <a:cubicBezTo>
                  <a:pt x="104715" y="277892"/>
                  <a:pt x="108585" y="272415"/>
                  <a:pt x="112276" y="266700"/>
                </a:cubicBezTo>
                <a:lnTo>
                  <a:pt x="247650" y="266700"/>
                </a:lnTo>
                <a:cubicBezTo>
                  <a:pt x="258187" y="266700"/>
                  <a:pt x="266700" y="258187"/>
                  <a:pt x="266700" y="247650"/>
                </a:cubicBezTo>
                <a:cubicBezTo>
                  <a:pt x="266700" y="237113"/>
                  <a:pt x="258187" y="228600"/>
                  <a:pt x="247650" y="228600"/>
                </a:cubicBezTo>
                <a:lnTo>
                  <a:pt x="190500" y="228600"/>
                </a:lnTo>
                <a:cubicBezTo>
                  <a:pt x="158948" y="228600"/>
                  <a:pt x="133350" y="203002"/>
                  <a:pt x="133350" y="171450"/>
                </a:cubicBezTo>
                <a:cubicBezTo>
                  <a:pt x="133350" y="139898"/>
                  <a:pt x="158948" y="114300"/>
                  <a:pt x="190500" y="114300"/>
                </a:cubicBezTo>
                <a:lnTo>
                  <a:pt x="214193" y="114300"/>
                </a:lnTo>
                <a:cubicBezTo>
                  <a:pt x="201692" y="95548"/>
                  <a:pt x="190500" y="73997"/>
                  <a:pt x="190500" y="57150"/>
                </a:cubicBezTo>
                <a:cubicBezTo>
                  <a:pt x="190500" y="25598"/>
                  <a:pt x="216098" y="0"/>
                  <a:pt x="247650" y="0"/>
                </a:cubicBezTo>
                <a:cubicBezTo>
                  <a:pt x="279202" y="0"/>
                  <a:pt x="304800" y="25598"/>
                  <a:pt x="304800" y="57150"/>
                </a:cubicBezTo>
                <a:close/>
                <a:moveTo>
                  <a:pt x="69711" y="291167"/>
                </a:moveTo>
                <a:cubicBezTo>
                  <a:pt x="67449" y="293727"/>
                  <a:pt x="65425" y="295989"/>
                  <a:pt x="63698" y="297894"/>
                </a:cubicBezTo>
                <a:lnTo>
                  <a:pt x="62627" y="299085"/>
                </a:lnTo>
                <a:lnTo>
                  <a:pt x="62508" y="298966"/>
                </a:lnTo>
                <a:cubicBezTo>
                  <a:pt x="58936" y="301704"/>
                  <a:pt x="53816" y="301347"/>
                  <a:pt x="50602" y="297894"/>
                </a:cubicBezTo>
                <a:cubicBezTo>
                  <a:pt x="35600" y="281583"/>
                  <a:pt x="0" y="239613"/>
                  <a:pt x="0" y="209550"/>
                </a:cubicBezTo>
                <a:cubicBezTo>
                  <a:pt x="0" y="177998"/>
                  <a:pt x="25598" y="152400"/>
                  <a:pt x="57150" y="152400"/>
                </a:cubicBezTo>
                <a:cubicBezTo>
                  <a:pt x="88702" y="152400"/>
                  <a:pt x="114300" y="177998"/>
                  <a:pt x="114300" y="209550"/>
                </a:cubicBezTo>
                <a:cubicBezTo>
                  <a:pt x="114300" y="227409"/>
                  <a:pt x="101739" y="249436"/>
                  <a:pt x="88404" y="267831"/>
                </a:cubicBezTo>
                <a:cubicBezTo>
                  <a:pt x="82034" y="276582"/>
                  <a:pt x="75486" y="284500"/>
                  <a:pt x="70068" y="290751"/>
                </a:cubicBezTo>
                <a:lnTo>
                  <a:pt x="69711" y="291167"/>
                </a:lnTo>
                <a:close/>
                <a:moveTo>
                  <a:pt x="76200" y="209550"/>
                </a:moveTo>
                <a:cubicBezTo>
                  <a:pt x="76200" y="199036"/>
                  <a:pt x="67664" y="190500"/>
                  <a:pt x="57150" y="190500"/>
                </a:cubicBezTo>
                <a:cubicBezTo>
                  <a:pt x="46636" y="190500"/>
                  <a:pt x="38100" y="199036"/>
                  <a:pt x="38100" y="209550"/>
                </a:cubicBezTo>
                <a:cubicBezTo>
                  <a:pt x="38100" y="220064"/>
                  <a:pt x="46636" y="228600"/>
                  <a:pt x="57150" y="228600"/>
                </a:cubicBezTo>
                <a:cubicBezTo>
                  <a:pt x="67664" y="228600"/>
                  <a:pt x="76200" y="220064"/>
                  <a:pt x="76200" y="209550"/>
                </a:cubicBezTo>
                <a:close/>
                <a:moveTo>
                  <a:pt x="247650" y="76200"/>
                </a:moveTo>
                <a:cubicBezTo>
                  <a:pt x="258164" y="76200"/>
                  <a:pt x="266700" y="67664"/>
                  <a:pt x="266700" y="57150"/>
                </a:cubicBezTo>
                <a:cubicBezTo>
                  <a:pt x="266700" y="46636"/>
                  <a:pt x="258164" y="38100"/>
                  <a:pt x="247650" y="38100"/>
                </a:cubicBezTo>
                <a:cubicBezTo>
                  <a:pt x="237136" y="38100"/>
                  <a:pt x="228600" y="46636"/>
                  <a:pt x="228600" y="57150"/>
                </a:cubicBezTo>
                <a:cubicBezTo>
                  <a:pt x="228600" y="67664"/>
                  <a:pt x="237136" y="76200"/>
                  <a:pt x="247650" y="76200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8" name="Text 16"/>
          <p:cNvSpPr/>
          <p:nvPr/>
        </p:nvSpPr>
        <p:spPr>
          <a:xfrm>
            <a:off x="9220200" y="4064000"/>
            <a:ext cx="595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Guides customers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complex processes, clarifies terms, answers eligibility questions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63000" y="501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0387" y="20479"/>
                </a:moveTo>
                <a:cubicBezTo>
                  <a:pt x="247531" y="17502"/>
                  <a:pt x="255687" y="19169"/>
                  <a:pt x="261164" y="24586"/>
                </a:cubicBezTo>
                <a:lnTo>
                  <a:pt x="299264" y="62686"/>
                </a:lnTo>
                <a:cubicBezTo>
                  <a:pt x="302835" y="66258"/>
                  <a:pt x="304860" y="71080"/>
                  <a:pt x="304860" y="76140"/>
                </a:cubicBezTo>
                <a:cubicBezTo>
                  <a:pt x="304860" y="81201"/>
                  <a:pt x="302835" y="86023"/>
                  <a:pt x="299264" y="89595"/>
                </a:cubicBezTo>
                <a:lnTo>
                  <a:pt x="261164" y="127695"/>
                </a:lnTo>
                <a:cubicBezTo>
                  <a:pt x="255687" y="133171"/>
                  <a:pt x="247531" y="134779"/>
                  <a:pt x="240387" y="131802"/>
                </a:cubicBezTo>
                <a:cubicBezTo>
                  <a:pt x="233243" y="128826"/>
                  <a:pt x="228600" y="121980"/>
                  <a:pt x="228600" y="114300"/>
                </a:cubicBezTo>
                <a:lnTo>
                  <a:pt x="228600" y="95250"/>
                </a:lnTo>
                <a:lnTo>
                  <a:pt x="209550" y="95250"/>
                </a:lnTo>
                <a:cubicBezTo>
                  <a:pt x="203537" y="95250"/>
                  <a:pt x="197882" y="98048"/>
                  <a:pt x="194310" y="102870"/>
                </a:cubicBezTo>
                <a:lnTo>
                  <a:pt x="175022" y="128588"/>
                </a:lnTo>
                <a:lnTo>
                  <a:pt x="151209" y="96857"/>
                </a:lnTo>
                <a:lnTo>
                  <a:pt x="163830" y="80010"/>
                </a:lnTo>
                <a:cubicBezTo>
                  <a:pt x="174605" y="65603"/>
                  <a:pt x="191572" y="57150"/>
                  <a:pt x="209550" y="57150"/>
                </a:cubicBezTo>
                <a:lnTo>
                  <a:pt x="228600" y="57150"/>
                </a:lnTo>
                <a:lnTo>
                  <a:pt x="228600" y="38100"/>
                </a:lnTo>
                <a:cubicBezTo>
                  <a:pt x="228600" y="30420"/>
                  <a:pt x="233243" y="23455"/>
                  <a:pt x="240387" y="20479"/>
                </a:cubicBezTo>
                <a:close/>
                <a:moveTo>
                  <a:pt x="91678" y="176212"/>
                </a:moveTo>
                <a:lnTo>
                  <a:pt x="115491" y="207943"/>
                </a:lnTo>
                <a:lnTo>
                  <a:pt x="102870" y="224790"/>
                </a:lnTo>
                <a:cubicBezTo>
                  <a:pt x="92095" y="239197"/>
                  <a:pt x="75128" y="247650"/>
                  <a:pt x="57150" y="247650"/>
                </a:cubicBezTo>
                <a:lnTo>
                  <a:pt x="19050" y="247650"/>
                </a:lnTo>
                <a:cubicBezTo>
                  <a:pt x="8513" y="247650"/>
                  <a:pt x="0" y="239137"/>
                  <a:pt x="0" y="228600"/>
                </a:cubicBezTo>
                <a:cubicBezTo>
                  <a:pt x="0" y="218063"/>
                  <a:pt x="8513" y="209550"/>
                  <a:pt x="19050" y="209550"/>
                </a:cubicBezTo>
                <a:lnTo>
                  <a:pt x="57150" y="209550"/>
                </a:lnTo>
                <a:cubicBezTo>
                  <a:pt x="63163" y="209550"/>
                  <a:pt x="68818" y="206752"/>
                  <a:pt x="72390" y="201930"/>
                </a:cubicBezTo>
                <a:lnTo>
                  <a:pt x="91678" y="176212"/>
                </a:lnTo>
                <a:close/>
                <a:moveTo>
                  <a:pt x="261104" y="280154"/>
                </a:moveTo>
                <a:cubicBezTo>
                  <a:pt x="255627" y="285631"/>
                  <a:pt x="247471" y="287238"/>
                  <a:pt x="240328" y="284262"/>
                </a:cubicBezTo>
                <a:cubicBezTo>
                  <a:pt x="233184" y="281285"/>
                  <a:pt x="228600" y="274380"/>
                  <a:pt x="228600" y="266700"/>
                </a:cubicBezTo>
                <a:lnTo>
                  <a:pt x="228600" y="247650"/>
                </a:lnTo>
                <a:lnTo>
                  <a:pt x="209550" y="247650"/>
                </a:lnTo>
                <a:cubicBezTo>
                  <a:pt x="191572" y="247650"/>
                  <a:pt x="174605" y="239197"/>
                  <a:pt x="163830" y="224790"/>
                </a:cubicBezTo>
                <a:lnTo>
                  <a:pt x="72390" y="102870"/>
                </a:lnTo>
                <a:cubicBezTo>
                  <a:pt x="68818" y="98048"/>
                  <a:pt x="63163" y="95250"/>
                  <a:pt x="57150" y="952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cubicBezTo>
                  <a:pt x="75128" y="57150"/>
                  <a:pt x="92095" y="65603"/>
                  <a:pt x="102870" y="80010"/>
                </a:cubicBezTo>
                <a:lnTo>
                  <a:pt x="194310" y="201930"/>
                </a:lnTo>
                <a:cubicBezTo>
                  <a:pt x="197882" y="206752"/>
                  <a:pt x="203537" y="209550"/>
                  <a:pt x="209550" y="209550"/>
                </a:cubicBezTo>
                <a:lnTo>
                  <a:pt x="228600" y="209550"/>
                </a:lnTo>
                <a:lnTo>
                  <a:pt x="228600" y="190500"/>
                </a:lnTo>
                <a:cubicBezTo>
                  <a:pt x="228600" y="182820"/>
                  <a:pt x="233243" y="175855"/>
                  <a:pt x="240387" y="172879"/>
                </a:cubicBezTo>
                <a:cubicBezTo>
                  <a:pt x="247531" y="169902"/>
                  <a:pt x="255687" y="171569"/>
                  <a:pt x="261164" y="176986"/>
                </a:cubicBezTo>
                <a:lnTo>
                  <a:pt x="299264" y="215086"/>
                </a:lnTo>
                <a:cubicBezTo>
                  <a:pt x="302835" y="218658"/>
                  <a:pt x="304860" y="223480"/>
                  <a:pt x="304860" y="228540"/>
                </a:cubicBezTo>
                <a:cubicBezTo>
                  <a:pt x="304860" y="233601"/>
                  <a:pt x="302835" y="238423"/>
                  <a:pt x="299264" y="241995"/>
                </a:cubicBezTo>
                <a:lnTo>
                  <a:pt x="261164" y="280095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0" name="Text 18"/>
          <p:cNvSpPr/>
          <p:nvPr/>
        </p:nvSpPr>
        <p:spPr>
          <a:xfrm>
            <a:off x="9220200" y="4953000"/>
            <a:ext cx="595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Suggests alternative solutions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a customer isn't eligible for a desired product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01100" y="5905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85380" y="19050"/>
                </a:moveTo>
                <a:lnTo>
                  <a:pt x="190500" y="19050"/>
                </a:lnTo>
                <a:cubicBezTo>
                  <a:pt x="211515" y="19050"/>
                  <a:pt x="228600" y="36135"/>
                  <a:pt x="228600" y="571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43220" y="19050"/>
                </a:lnTo>
                <a:cubicBezTo>
                  <a:pt x="49768" y="7680"/>
                  <a:pt x="62091" y="0"/>
                  <a:pt x="76200" y="0"/>
                </a:cubicBezTo>
                <a:lnTo>
                  <a:pt x="152400" y="0"/>
                </a:lnTo>
                <a:cubicBezTo>
                  <a:pt x="166509" y="0"/>
                  <a:pt x="178832" y="7680"/>
                  <a:pt x="185380" y="19050"/>
                </a:cubicBezTo>
                <a:close/>
                <a:moveTo>
                  <a:pt x="147638" y="66675"/>
                </a:moveTo>
                <a:cubicBezTo>
                  <a:pt x="155555" y="66675"/>
                  <a:pt x="161925" y="60305"/>
                  <a:pt x="161925" y="52388"/>
                </a:cubicBezTo>
                <a:cubicBezTo>
                  <a:pt x="161925" y="44470"/>
                  <a:pt x="155555" y="38100"/>
                  <a:pt x="147638" y="38100"/>
                </a:cubicBezTo>
                <a:lnTo>
                  <a:pt x="80962" y="38100"/>
                </a:lnTo>
                <a:cubicBezTo>
                  <a:pt x="73045" y="38100"/>
                  <a:pt x="66675" y="44470"/>
                  <a:pt x="66675" y="52388"/>
                </a:cubicBezTo>
                <a:cubicBezTo>
                  <a:pt x="66675" y="60305"/>
                  <a:pt x="73045" y="66675"/>
                  <a:pt x="80962" y="66675"/>
                </a:cubicBezTo>
                <a:lnTo>
                  <a:pt x="147638" y="66675"/>
                </a:lnTo>
                <a:close/>
                <a:moveTo>
                  <a:pt x="76200" y="152400"/>
                </a:move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ubicBezTo>
                  <a:pt x="67664" y="171450"/>
                  <a:pt x="76200" y="162914"/>
                  <a:pt x="76200" y="152400"/>
                </a:cubicBezTo>
                <a:close/>
                <a:moveTo>
                  <a:pt x="95250" y="152400"/>
                </a:moveTo>
                <a:cubicBezTo>
                  <a:pt x="95250" y="160318"/>
                  <a:pt x="101620" y="166688"/>
                  <a:pt x="109537" y="166688"/>
                </a:cubicBezTo>
                <a:lnTo>
                  <a:pt x="176212" y="166688"/>
                </a:lnTo>
                <a:cubicBezTo>
                  <a:pt x="184130" y="166688"/>
                  <a:pt x="190500" y="160318"/>
                  <a:pt x="190500" y="152400"/>
                </a:cubicBezTo>
                <a:cubicBezTo>
                  <a:pt x="190500" y="144482"/>
                  <a:pt x="184130" y="138113"/>
                  <a:pt x="176212" y="138113"/>
                </a:cubicBezTo>
                <a:lnTo>
                  <a:pt x="109537" y="138113"/>
                </a:lnTo>
                <a:cubicBezTo>
                  <a:pt x="101620" y="138113"/>
                  <a:pt x="95250" y="144482"/>
                  <a:pt x="95250" y="152400"/>
                </a:cubicBezTo>
                <a:close/>
                <a:moveTo>
                  <a:pt x="95250" y="228600"/>
                </a:moveTo>
                <a:cubicBezTo>
                  <a:pt x="95250" y="236518"/>
                  <a:pt x="101620" y="242888"/>
                  <a:pt x="109537" y="242888"/>
                </a:cubicBezTo>
                <a:lnTo>
                  <a:pt x="176212" y="242888"/>
                </a:lnTo>
                <a:cubicBezTo>
                  <a:pt x="184130" y="242888"/>
                  <a:pt x="190500" y="236518"/>
                  <a:pt x="190500" y="228600"/>
                </a:cubicBezTo>
                <a:cubicBezTo>
                  <a:pt x="190500" y="220682"/>
                  <a:pt x="184130" y="214313"/>
                  <a:pt x="176212" y="214313"/>
                </a:cubicBezTo>
                <a:lnTo>
                  <a:pt x="109537" y="214313"/>
                </a:lnTo>
                <a:cubicBezTo>
                  <a:pt x="101620" y="214313"/>
                  <a:pt x="95250" y="220682"/>
                  <a:pt x="95250" y="228600"/>
                </a:cubicBezTo>
                <a:close/>
                <a:moveTo>
                  <a:pt x="57150" y="247650"/>
                </a:moveTo>
                <a:cubicBezTo>
                  <a:pt x="67664" y="247650"/>
                  <a:pt x="76200" y="239114"/>
                  <a:pt x="76200" y="228600"/>
                </a:cubicBezTo>
                <a:cubicBezTo>
                  <a:pt x="76200" y="218086"/>
                  <a:pt x="67664" y="209550"/>
                  <a:pt x="57150" y="209550"/>
                </a:cubicBezTo>
                <a:cubicBezTo>
                  <a:pt x="46636" y="209550"/>
                  <a:pt x="38100" y="218086"/>
                  <a:pt x="38100" y="228600"/>
                </a:cubicBezTo>
                <a:cubicBezTo>
                  <a:pt x="38100" y="239114"/>
                  <a:pt x="46636" y="247650"/>
                  <a:pt x="57150" y="247650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2" name="Text 20"/>
          <p:cNvSpPr/>
          <p:nvPr/>
        </p:nvSpPr>
        <p:spPr>
          <a:xfrm>
            <a:off x="9220200" y="5842000"/>
            <a:ext cx="595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Auto-logs technical issues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internal systems for tracking and resolution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82050" y="679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38100"/>
                </a:moveTo>
                <a:cubicBezTo>
                  <a:pt x="86320" y="38100"/>
                  <a:pt x="47208" y="72211"/>
                  <a:pt x="39469" y="117098"/>
                </a:cubicBezTo>
                <a:cubicBezTo>
                  <a:pt x="45006" y="115312"/>
                  <a:pt x="50959" y="114300"/>
                  <a:pt x="57150" y="114300"/>
                </a:cubicBezTo>
                <a:lnTo>
                  <a:pt x="66675" y="114300"/>
                </a:lnTo>
                <a:cubicBezTo>
                  <a:pt x="82451" y="114300"/>
                  <a:pt x="95250" y="127099"/>
                  <a:pt x="95250" y="142875"/>
                </a:cubicBezTo>
                <a:lnTo>
                  <a:pt x="95250" y="200025"/>
                </a:lnTo>
                <a:cubicBezTo>
                  <a:pt x="95250" y="215801"/>
                  <a:pt x="82451" y="228600"/>
                  <a:pt x="66675" y="228600"/>
                </a:cubicBezTo>
                <a:lnTo>
                  <a:pt x="57150" y="228600"/>
                </a:lnTo>
                <a:cubicBezTo>
                  <a:pt x="25598" y="228600"/>
                  <a:pt x="0" y="203002"/>
                  <a:pt x="0" y="171450"/>
                </a:cubicBezTo>
                <a:lnTo>
                  <a:pt x="0" y="133350"/>
                </a:lnTo>
                <a:cubicBezTo>
                  <a:pt x="0" y="59710"/>
                  <a:pt x="59710" y="0"/>
                  <a:pt x="133350" y="0"/>
                </a:cubicBezTo>
                <a:cubicBezTo>
                  <a:pt x="206990" y="0"/>
                  <a:pt x="266700" y="59710"/>
                  <a:pt x="266700" y="133350"/>
                </a:cubicBezTo>
                <a:lnTo>
                  <a:pt x="266700" y="233422"/>
                </a:lnTo>
                <a:cubicBezTo>
                  <a:pt x="266700" y="272891"/>
                  <a:pt x="234672" y="304860"/>
                  <a:pt x="195203" y="304860"/>
                </a:cubicBezTo>
                <a:lnTo>
                  <a:pt x="142875" y="304800"/>
                </a:lnTo>
                <a:lnTo>
                  <a:pt x="123825" y="304800"/>
                </a:lnTo>
                <a:cubicBezTo>
                  <a:pt x="108049" y="304800"/>
                  <a:pt x="95250" y="292001"/>
                  <a:pt x="95250" y="276225"/>
                </a:cubicBezTo>
                <a:cubicBezTo>
                  <a:pt x="95250" y="260449"/>
                  <a:pt x="108049" y="247650"/>
                  <a:pt x="123825" y="247650"/>
                </a:cubicBezTo>
                <a:lnTo>
                  <a:pt x="142875" y="247650"/>
                </a:lnTo>
                <a:cubicBezTo>
                  <a:pt x="158651" y="247650"/>
                  <a:pt x="171450" y="260449"/>
                  <a:pt x="171450" y="276225"/>
                </a:cubicBezTo>
                <a:lnTo>
                  <a:pt x="171450" y="276225"/>
                </a:lnTo>
                <a:lnTo>
                  <a:pt x="195263" y="276225"/>
                </a:lnTo>
                <a:cubicBezTo>
                  <a:pt x="218956" y="276225"/>
                  <a:pt x="238125" y="257056"/>
                  <a:pt x="238125" y="233363"/>
                </a:cubicBezTo>
                <a:lnTo>
                  <a:pt x="238125" y="220920"/>
                </a:lnTo>
                <a:cubicBezTo>
                  <a:pt x="229731" y="225802"/>
                  <a:pt x="219968" y="228540"/>
                  <a:pt x="209550" y="228540"/>
                </a:cubicBezTo>
                <a:lnTo>
                  <a:pt x="200025" y="228540"/>
                </a:lnTo>
                <a:cubicBezTo>
                  <a:pt x="184249" y="228540"/>
                  <a:pt x="171450" y="215741"/>
                  <a:pt x="171450" y="199965"/>
                </a:cubicBezTo>
                <a:lnTo>
                  <a:pt x="171450" y="142815"/>
                </a:lnTo>
                <a:cubicBezTo>
                  <a:pt x="171450" y="127040"/>
                  <a:pt x="184249" y="114240"/>
                  <a:pt x="200025" y="114240"/>
                </a:cubicBezTo>
                <a:lnTo>
                  <a:pt x="209550" y="114240"/>
                </a:lnTo>
                <a:cubicBezTo>
                  <a:pt x="215741" y="114240"/>
                  <a:pt x="221635" y="115193"/>
                  <a:pt x="227231" y="117038"/>
                </a:cubicBezTo>
                <a:cubicBezTo>
                  <a:pt x="219492" y="72211"/>
                  <a:pt x="180439" y="38040"/>
                  <a:pt x="133350" y="38040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4" name="Text 22"/>
          <p:cNvSpPr/>
          <p:nvPr/>
        </p:nvSpPr>
        <p:spPr>
          <a:xfrm>
            <a:off x="9220200" y="6731000"/>
            <a:ext cx="595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Escalates complex issues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human advisors when needed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801100"/>
            <a:ext cx="14732000" cy="254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2000" y="8483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for Banks &amp; Customers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762000" cy="381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7175500" cy="692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762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77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02332" y="15032"/>
                </a:moveTo>
                <a:cubicBezTo>
                  <a:pt x="195039" y="10864"/>
                  <a:pt x="186035" y="10864"/>
                  <a:pt x="178668" y="15032"/>
                </a:cubicBezTo>
                <a:lnTo>
                  <a:pt x="11981" y="110282"/>
                </a:lnTo>
                <a:cubicBezTo>
                  <a:pt x="2604" y="115639"/>
                  <a:pt x="-2009" y="126653"/>
                  <a:pt x="744" y="137071"/>
                </a:cubicBezTo>
                <a:cubicBezTo>
                  <a:pt x="3497" y="147489"/>
                  <a:pt x="13022" y="154781"/>
                  <a:pt x="23812" y="154781"/>
                </a:cubicBezTo>
                <a:lnTo>
                  <a:pt x="47625" y="154781"/>
                </a:lnTo>
                <a:lnTo>
                  <a:pt x="47625" y="309563"/>
                </a:lnTo>
                <a:lnTo>
                  <a:pt x="47625" y="309563"/>
                </a:lnTo>
                <a:lnTo>
                  <a:pt x="9525" y="338137"/>
                </a:lnTo>
                <a:cubicBezTo>
                  <a:pt x="3497" y="342602"/>
                  <a:pt x="0" y="349672"/>
                  <a:pt x="0" y="357188"/>
                </a:cubicBezTo>
                <a:cubicBezTo>
                  <a:pt x="0" y="370359"/>
                  <a:pt x="10641" y="381000"/>
                  <a:pt x="23812" y="381000"/>
                </a:cubicBezTo>
                <a:lnTo>
                  <a:pt x="357188" y="381000"/>
                </a:lnTo>
                <a:cubicBezTo>
                  <a:pt x="370359" y="381000"/>
                  <a:pt x="381000" y="370359"/>
                  <a:pt x="381000" y="357188"/>
                </a:cubicBezTo>
                <a:cubicBezTo>
                  <a:pt x="381000" y="349672"/>
                  <a:pt x="377503" y="342602"/>
                  <a:pt x="371475" y="338137"/>
                </a:cubicBezTo>
                <a:lnTo>
                  <a:pt x="333375" y="309563"/>
                </a:lnTo>
                <a:lnTo>
                  <a:pt x="333375" y="154781"/>
                </a:lnTo>
                <a:lnTo>
                  <a:pt x="357188" y="154781"/>
                </a:lnTo>
                <a:cubicBezTo>
                  <a:pt x="367978" y="154781"/>
                  <a:pt x="377428" y="147489"/>
                  <a:pt x="380181" y="137071"/>
                </a:cubicBezTo>
                <a:cubicBezTo>
                  <a:pt x="382935" y="126653"/>
                  <a:pt x="378321" y="115639"/>
                  <a:pt x="368945" y="110282"/>
                </a:cubicBezTo>
                <a:lnTo>
                  <a:pt x="202257" y="15032"/>
                </a:lnTo>
                <a:close/>
                <a:moveTo>
                  <a:pt x="297656" y="154781"/>
                </a:moveTo>
                <a:lnTo>
                  <a:pt x="297656" y="309563"/>
                </a:lnTo>
                <a:lnTo>
                  <a:pt x="250031" y="309563"/>
                </a:lnTo>
                <a:lnTo>
                  <a:pt x="250031" y="154781"/>
                </a:lnTo>
                <a:lnTo>
                  <a:pt x="297656" y="154781"/>
                </a:lnTo>
                <a:close/>
                <a:moveTo>
                  <a:pt x="214313" y="154781"/>
                </a:moveTo>
                <a:lnTo>
                  <a:pt x="214313" y="309563"/>
                </a:lnTo>
                <a:lnTo>
                  <a:pt x="166688" y="309563"/>
                </a:lnTo>
                <a:lnTo>
                  <a:pt x="166688" y="154781"/>
                </a:lnTo>
                <a:lnTo>
                  <a:pt x="214313" y="154781"/>
                </a:lnTo>
                <a:close/>
                <a:moveTo>
                  <a:pt x="130969" y="154781"/>
                </a:moveTo>
                <a:lnTo>
                  <a:pt x="130969" y="309563"/>
                </a:lnTo>
                <a:lnTo>
                  <a:pt x="83344" y="309563"/>
                </a:lnTo>
                <a:lnTo>
                  <a:pt x="83344" y="154781"/>
                </a:lnTo>
                <a:lnTo>
                  <a:pt x="130969" y="154781"/>
                </a:lnTo>
                <a:close/>
                <a:moveTo>
                  <a:pt x="190500" y="71438"/>
                </a:moveTo>
                <a:cubicBezTo>
                  <a:pt x="203642" y="71438"/>
                  <a:pt x="214313" y="82108"/>
                  <a:pt x="214313" y="95250"/>
                </a:cubicBezTo>
                <a:cubicBezTo>
                  <a:pt x="214313" y="108392"/>
                  <a:pt x="203642" y="119063"/>
                  <a:pt x="190500" y="119063"/>
                </a:cubicBezTo>
                <a:cubicBezTo>
                  <a:pt x="177358" y="119063"/>
                  <a:pt x="166688" y="108392"/>
                  <a:pt x="166688" y="95250"/>
                </a:cubicBezTo>
                <a:cubicBezTo>
                  <a:pt x="166688" y="82108"/>
                  <a:pt x="177358" y="71438"/>
                  <a:pt x="190500" y="71438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587500"/>
            <a:ext cx="6032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the Bank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0775" y="279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244475"/>
                </a:moveTo>
                <a:cubicBezTo>
                  <a:pt x="254407" y="244475"/>
                  <a:pt x="244475" y="254407"/>
                  <a:pt x="244475" y="266700"/>
                </a:cubicBezTo>
                <a:cubicBezTo>
                  <a:pt x="244475" y="278993"/>
                  <a:pt x="254407" y="288925"/>
                  <a:pt x="266700" y="288925"/>
                </a:cubicBezTo>
                <a:lnTo>
                  <a:pt x="377825" y="288925"/>
                </a:lnTo>
                <a:cubicBezTo>
                  <a:pt x="390118" y="288925"/>
                  <a:pt x="400050" y="278993"/>
                  <a:pt x="400050" y="266700"/>
                </a:cubicBezTo>
                <a:lnTo>
                  <a:pt x="400050" y="155575"/>
                </a:lnTo>
                <a:cubicBezTo>
                  <a:pt x="400050" y="143282"/>
                  <a:pt x="390118" y="133350"/>
                  <a:pt x="377825" y="133350"/>
                </a:cubicBezTo>
                <a:cubicBezTo>
                  <a:pt x="365532" y="133350"/>
                  <a:pt x="355600" y="143282"/>
                  <a:pt x="355600" y="155575"/>
                </a:cubicBezTo>
                <a:lnTo>
                  <a:pt x="355600" y="213013"/>
                </a:lnTo>
                <a:lnTo>
                  <a:pt x="237946" y="95359"/>
                </a:lnTo>
                <a:cubicBezTo>
                  <a:pt x="229265" y="86678"/>
                  <a:pt x="215166" y="86678"/>
                  <a:pt x="206484" y="95359"/>
                </a:cubicBezTo>
                <a:lnTo>
                  <a:pt x="133350" y="168563"/>
                </a:lnTo>
                <a:lnTo>
                  <a:pt x="37921" y="73204"/>
                </a:lnTo>
                <a:cubicBezTo>
                  <a:pt x="29240" y="64522"/>
                  <a:pt x="15141" y="64522"/>
                  <a:pt x="6459" y="73204"/>
                </a:cubicBezTo>
                <a:cubicBezTo>
                  <a:pt x="-2222" y="81885"/>
                  <a:pt x="-2222" y="95984"/>
                  <a:pt x="6459" y="104666"/>
                </a:cubicBezTo>
                <a:lnTo>
                  <a:pt x="117584" y="215791"/>
                </a:lnTo>
                <a:cubicBezTo>
                  <a:pt x="126266" y="224473"/>
                  <a:pt x="140365" y="224473"/>
                  <a:pt x="149046" y="215791"/>
                </a:cubicBezTo>
                <a:lnTo>
                  <a:pt x="222250" y="142587"/>
                </a:lnTo>
                <a:lnTo>
                  <a:pt x="324138" y="244475"/>
                </a:lnTo>
                <a:lnTo>
                  <a:pt x="266700" y="244475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2730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Decreased Operational Costs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51000" y="31369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spending on call center staffing and infrastructure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3937000"/>
            <a:ext cx="6413500" cy="12700"/>
          </a:xfrm>
          <a:prstGeom prst="rect">
            <a:avLst/>
          </a:prstGeom>
          <a:solidFill>
            <a:srgbClr val="E0DD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5225" y="425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3" name="Text 11"/>
          <p:cNvSpPr/>
          <p:nvPr/>
        </p:nvSpPr>
        <p:spPr>
          <a:xfrm>
            <a:off x="1651000" y="4191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Response Times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51000" y="45974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answers to customer inquiries, eliminating wait queues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5397500"/>
            <a:ext cx="6413500" cy="12700"/>
          </a:xfrm>
          <a:prstGeom prst="rect">
            <a:avLst/>
          </a:prstGeom>
          <a:solidFill>
            <a:srgbClr val="E0DDD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5225" y="5715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9932" y="133350"/>
                  <a:pt x="22225" y="133350"/>
                </a:cubicBezTo>
                <a:cubicBezTo>
                  <a:pt x="34518" y="133350"/>
                  <a:pt x="44450" y="123418"/>
                  <a:pt x="44450" y="111125"/>
                </a:cubicBezTo>
                <a:lnTo>
                  <a:pt x="44450" y="66675"/>
                </a:lnTo>
                <a:lnTo>
                  <a:pt x="88900" y="66675"/>
                </a:lnTo>
                <a:cubicBezTo>
                  <a:pt x="101193" y="66675"/>
                  <a:pt x="111125" y="56743"/>
                  <a:pt x="111125" y="44450"/>
                </a:cubicBezTo>
                <a:cubicBezTo>
                  <a:pt x="111125" y="32157"/>
                  <a:pt x="101193" y="22225"/>
                  <a:pt x="88900" y="22225"/>
                </a:cubicBezTo>
                <a:lnTo>
                  <a:pt x="22225" y="22225"/>
                </a:lnTo>
                <a:close/>
                <a:moveTo>
                  <a:pt x="44450" y="244475"/>
                </a:moveTo>
                <a:cubicBezTo>
                  <a:pt x="44450" y="232182"/>
                  <a:pt x="34518" y="222250"/>
                  <a:pt x="22225" y="222250"/>
                </a:cubicBezTo>
                <a:cubicBezTo>
                  <a:pt x="9932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cubicBezTo>
                  <a:pt x="111125" y="298857"/>
                  <a:pt x="101193" y="288925"/>
                  <a:pt x="88900" y="288925"/>
                </a:cubicBez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222250" y="22225"/>
                </a:moveTo>
                <a:cubicBezTo>
                  <a:pt x="209957" y="22225"/>
                  <a:pt x="200025" y="32157"/>
                  <a:pt x="200025" y="44450"/>
                </a:cubicBezTo>
                <a:cubicBezTo>
                  <a:pt x="200025" y="56743"/>
                  <a:pt x="209957" y="66675"/>
                  <a:pt x="222250" y="66675"/>
                </a:cubicBezTo>
                <a:lnTo>
                  <a:pt x="266700" y="66675"/>
                </a:lnTo>
                <a:lnTo>
                  <a:pt x="266700" y="111125"/>
                </a:lnTo>
                <a:cubicBezTo>
                  <a:pt x="266700" y="123418"/>
                  <a:pt x="276632" y="133350"/>
                  <a:pt x="288925" y="133350"/>
                </a:cubicBezTo>
                <a:cubicBezTo>
                  <a:pt x="301218" y="133350"/>
                  <a:pt x="311150" y="123418"/>
                  <a:pt x="311150" y="111125"/>
                </a:cubicBezTo>
                <a:lnTo>
                  <a:pt x="311150" y="44450"/>
                </a:lnTo>
                <a:cubicBezTo>
                  <a:pt x="311150" y="32157"/>
                  <a:pt x="301218" y="22225"/>
                  <a:pt x="288925" y="22225"/>
                </a:cubicBezTo>
                <a:lnTo>
                  <a:pt x="222250" y="22225"/>
                </a:lnTo>
                <a:close/>
                <a:moveTo>
                  <a:pt x="311150" y="244475"/>
                </a:moveTo>
                <a:cubicBezTo>
                  <a:pt x="311150" y="232182"/>
                  <a:pt x="301218" y="222250"/>
                  <a:pt x="288925" y="222250"/>
                </a:cubicBezTo>
                <a:cubicBezTo>
                  <a:pt x="276632" y="222250"/>
                  <a:pt x="266700" y="232182"/>
                  <a:pt x="266700" y="244475"/>
                </a:cubicBezTo>
                <a:lnTo>
                  <a:pt x="266700" y="288925"/>
                </a:lnTo>
                <a:lnTo>
                  <a:pt x="222250" y="288925"/>
                </a:lnTo>
                <a:cubicBezTo>
                  <a:pt x="209957" y="288925"/>
                  <a:pt x="200025" y="298857"/>
                  <a:pt x="200025" y="311150"/>
                </a:cubicBezTo>
                <a:cubicBezTo>
                  <a:pt x="200025" y="323443"/>
                  <a:pt x="209957" y="333375"/>
                  <a:pt x="22225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4475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5651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Greater Scalability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51000" y="6057900"/>
            <a:ext cx="5969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growing customer volumes without proportional cost increase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6985000"/>
            <a:ext cx="6413500" cy="12700"/>
          </a:xfrm>
          <a:prstGeom prst="rect">
            <a:avLst/>
          </a:prstGeom>
          <a:solidFill>
            <a:srgbClr val="E0DD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0775" y="730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7302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Data-Backed Insights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51000" y="77089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services through analytics from customer interactions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18500" y="1587500"/>
            <a:ext cx="7175500" cy="6921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18500" y="1587500"/>
            <a:ext cx="7175500" cy="762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25" name="Shape 23"/>
          <p:cNvSpPr/>
          <p:nvPr/>
        </p:nvSpPr>
        <p:spPr>
          <a:xfrm>
            <a:off x="8588375" y="1778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1587500"/>
            <a:ext cx="6032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Customers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995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28" name="Text 26"/>
          <p:cNvSpPr/>
          <p:nvPr/>
        </p:nvSpPr>
        <p:spPr>
          <a:xfrm>
            <a:off x="9207500" y="2730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Support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07500" y="31369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assistance anytime, day or night, without waiting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99500" y="3937000"/>
            <a:ext cx="6413500" cy="12700"/>
          </a:xfrm>
          <a:prstGeom prst="rect">
            <a:avLst/>
          </a:prstGeom>
          <a:solidFill>
            <a:srgbClr val="E0DDD6"/>
          </a:solidFill>
          <a:ln/>
        </p:spPr>
      </p:sp>
      <p:sp>
        <p:nvSpPr>
          <p:cNvPr id="31" name="Shape 29"/>
          <p:cNvSpPr/>
          <p:nvPr/>
        </p:nvSpPr>
        <p:spPr>
          <a:xfrm>
            <a:off x="8677275" y="4254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32" name="Text 30"/>
          <p:cNvSpPr/>
          <p:nvPr/>
        </p:nvSpPr>
        <p:spPr>
          <a:xfrm>
            <a:off x="9207500" y="4191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Experiences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207500" y="45974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Tailored responses based on individual history and context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99500" y="5397500"/>
            <a:ext cx="6413500" cy="12700"/>
          </a:xfrm>
          <a:prstGeom prst="rect">
            <a:avLst/>
          </a:prstGeom>
          <a:solidFill>
            <a:srgbClr val="E0DDD6"/>
          </a:solidFill>
          <a:ln/>
        </p:spPr>
      </p:sp>
      <p:sp>
        <p:nvSpPr>
          <p:cNvPr id="35" name="Shape 33"/>
          <p:cNvSpPr/>
          <p:nvPr/>
        </p:nvSpPr>
        <p:spPr>
          <a:xfrm>
            <a:off x="86995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36" name="Text 34"/>
          <p:cNvSpPr/>
          <p:nvPr/>
        </p:nvSpPr>
        <p:spPr>
          <a:xfrm>
            <a:off x="9207500" y="5651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Service Quality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207500" y="60579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Consistent, accurate answers every time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99500" y="6858000"/>
            <a:ext cx="6413500" cy="12700"/>
          </a:xfrm>
          <a:prstGeom prst="rect">
            <a:avLst/>
          </a:prstGeom>
          <a:solidFill>
            <a:srgbClr val="E0DDD6"/>
          </a:solidFill>
          <a:ln/>
        </p:spPr>
      </p:sp>
      <p:sp>
        <p:nvSpPr>
          <p:cNvPr id="39" name="Shape 37"/>
          <p:cNvSpPr/>
          <p:nvPr/>
        </p:nvSpPr>
        <p:spPr>
          <a:xfrm>
            <a:off x="8721725" y="7175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27781"/>
                </a:moveTo>
                <a:cubicBezTo>
                  <a:pt x="88900" y="12432"/>
                  <a:pt x="101332" y="0"/>
                  <a:pt x="116681" y="0"/>
                </a:cubicBezTo>
                <a:cubicBezTo>
                  <a:pt x="132030" y="0"/>
                  <a:pt x="144463" y="12432"/>
                  <a:pt x="144463" y="27781"/>
                </a:cubicBezTo>
                <a:lnTo>
                  <a:pt x="144463" y="130711"/>
                </a:lnTo>
                <a:cubicBezTo>
                  <a:pt x="150366" y="125432"/>
                  <a:pt x="158145" y="122238"/>
                  <a:pt x="166688" y="122238"/>
                </a:cubicBezTo>
                <a:cubicBezTo>
                  <a:pt x="180995" y="122238"/>
                  <a:pt x="193219" y="131266"/>
                  <a:pt x="197941" y="143907"/>
                </a:cubicBezTo>
                <a:cubicBezTo>
                  <a:pt x="204053" y="137448"/>
                  <a:pt x="212665" y="133350"/>
                  <a:pt x="222250" y="133350"/>
                </a:cubicBezTo>
                <a:cubicBezTo>
                  <a:pt x="239822" y="133350"/>
                  <a:pt x="254198" y="146893"/>
                  <a:pt x="255518" y="164118"/>
                </a:cubicBezTo>
                <a:cubicBezTo>
                  <a:pt x="261422" y="158770"/>
                  <a:pt x="269270" y="155575"/>
                  <a:pt x="277813" y="155575"/>
                </a:cubicBezTo>
                <a:cubicBezTo>
                  <a:pt x="296218" y="155575"/>
                  <a:pt x="311150" y="170507"/>
                  <a:pt x="311150" y="188913"/>
                </a:cubicBezTo>
                <a:lnTo>
                  <a:pt x="311150" y="266700"/>
                </a:lnTo>
                <a:cubicBezTo>
                  <a:pt x="311150" y="315803"/>
                  <a:pt x="271353" y="355600"/>
                  <a:pt x="222250" y="355600"/>
                </a:cubicBezTo>
                <a:lnTo>
                  <a:pt x="163006" y="355600"/>
                </a:lnTo>
                <a:cubicBezTo>
                  <a:pt x="159534" y="355600"/>
                  <a:pt x="156131" y="355392"/>
                  <a:pt x="152797" y="354905"/>
                </a:cubicBezTo>
                <a:cubicBezTo>
                  <a:pt x="114389" y="351016"/>
                  <a:pt x="79038" y="331291"/>
                  <a:pt x="55563" y="300038"/>
                </a:cubicBezTo>
                <a:lnTo>
                  <a:pt x="5556" y="233363"/>
                </a:lnTo>
                <a:cubicBezTo>
                  <a:pt x="-3681" y="221069"/>
                  <a:pt x="-1181" y="203706"/>
                  <a:pt x="11112" y="194469"/>
                </a:cubicBezTo>
                <a:cubicBezTo>
                  <a:pt x="23406" y="185231"/>
                  <a:pt x="40769" y="187732"/>
                  <a:pt x="50006" y="200025"/>
                </a:cubicBezTo>
                <a:lnTo>
                  <a:pt x="88900" y="251906"/>
                </a:lnTo>
                <a:lnTo>
                  <a:pt x="88900" y="27781"/>
                </a:lnTo>
                <a:close/>
                <a:moveTo>
                  <a:pt x="166688" y="211138"/>
                </a:moveTo>
                <a:cubicBezTo>
                  <a:pt x="166688" y="205026"/>
                  <a:pt x="161687" y="200025"/>
                  <a:pt x="155575" y="200025"/>
                </a:cubicBezTo>
                <a:cubicBezTo>
                  <a:pt x="149463" y="200025"/>
                  <a:pt x="144463" y="205026"/>
                  <a:pt x="144463" y="211138"/>
                </a:cubicBezTo>
                <a:lnTo>
                  <a:pt x="144463" y="277813"/>
                </a:lnTo>
                <a:cubicBezTo>
                  <a:pt x="144463" y="283924"/>
                  <a:pt x="149463" y="288925"/>
                  <a:pt x="155575" y="288925"/>
                </a:cubicBezTo>
                <a:cubicBezTo>
                  <a:pt x="161687" y="288925"/>
                  <a:pt x="166688" y="283924"/>
                  <a:pt x="166688" y="277813"/>
                </a:cubicBezTo>
                <a:lnTo>
                  <a:pt x="166688" y="211138"/>
                </a:lnTo>
                <a:close/>
                <a:moveTo>
                  <a:pt x="200025" y="200025"/>
                </a:moveTo>
                <a:cubicBezTo>
                  <a:pt x="193913" y="200025"/>
                  <a:pt x="188913" y="205026"/>
                  <a:pt x="188913" y="211138"/>
                </a:cubicBezTo>
                <a:lnTo>
                  <a:pt x="188913" y="277813"/>
                </a:lnTo>
                <a:cubicBezTo>
                  <a:pt x="188913" y="283924"/>
                  <a:pt x="193913" y="288925"/>
                  <a:pt x="200025" y="288925"/>
                </a:cubicBezTo>
                <a:cubicBezTo>
                  <a:pt x="206137" y="288925"/>
                  <a:pt x="211138" y="283924"/>
                  <a:pt x="211138" y="277813"/>
                </a:cubicBezTo>
                <a:lnTo>
                  <a:pt x="211138" y="211138"/>
                </a:lnTo>
                <a:cubicBezTo>
                  <a:pt x="211138" y="205026"/>
                  <a:pt x="206137" y="200025"/>
                  <a:pt x="200025" y="200025"/>
                </a:cubicBezTo>
                <a:close/>
                <a:moveTo>
                  <a:pt x="255587" y="211138"/>
                </a:moveTo>
                <a:cubicBezTo>
                  <a:pt x="255587" y="205026"/>
                  <a:pt x="250587" y="200025"/>
                  <a:pt x="244475" y="200025"/>
                </a:cubicBezTo>
                <a:cubicBezTo>
                  <a:pt x="238363" y="200025"/>
                  <a:pt x="233363" y="205026"/>
                  <a:pt x="233363" y="211138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cubicBezTo>
                  <a:pt x="250587" y="288925"/>
                  <a:pt x="255587" y="283924"/>
                  <a:pt x="255587" y="277813"/>
                </a:cubicBezTo>
                <a:lnTo>
                  <a:pt x="255587" y="211138"/>
                </a:lnTo>
                <a:close/>
              </a:path>
            </a:pathLst>
          </a:custGeom>
          <a:solidFill>
            <a:srgbClr val="D4930D"/>
          </a:solidFill>
          <a:ln/>
        </p:spPr>
      </p:sp>
      <p:sp>
        <p:nvSpPr>
          <p:cNvPr id="40" name="Text 38"/>
          <p:cNvSpPr/>
          <p:nvPr/>
        </p:nvSpPr>
        <p:spPr>
          <a:xfrm>
            <a:off x="9207500" y="7112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Self-Service Options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207500" y="75184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stay in control of their banking activities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" y="8801100"/>
            <a:ext cx="14732000" cy="254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43" name="Text 41"/>
          <p:cNvSpPr/>
          <p:nvPr/>
        </p:nvSpPr>
        <p:spPr>
          <a:xfrm>
            <a:off x="14732000" y="8534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86210" y="0"/>
            <a:ext cx="3469790" cy="91440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Perspective &amp; Contribution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168400"/>
            <a:ext cx="762000" cy="381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3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INTERESTS ME MOST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FlameTree AI  bridges the gap between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and real human interaction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Unlike transactional AI tools, it uses a context-aware approach that builds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3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relationships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customers on behalf of the business.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5306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3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 HOPE TO LEARN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0132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Setup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How agents are trained for different industries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42000" y="40132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Strategies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Understanding client challenges and AI solutions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9657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Measuring and improving AI over 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42000" y="49657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Communication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Explaining AI to non-technical audiences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0706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3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 CAN CONTRIBUTE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5532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Analysis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Performance monitoring and AI optimization insights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000" y="65532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Learner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Eager to adapt to new technologies and project needs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75057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Client materials, case studies, and internal docs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42000" y="75057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Fresh Perspectives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Digital-native insights into CX and AI tools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986000" y="7874000"/>
            <a:ext cx="508000" cy="508000"/>
          </a:xfrm>
          <a:prstGeom prst="rect">
            <a:avLst/>
          </a:prstGeom>
          <a:solidFill>
            <a:srgbClr val="D4930D">
              <a:alpha val="13333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8801100"/>
            <a:ext cx="14732000" cy="25400"/>
          </a:xfrm>
          <a:prstGeom prst="rect">
            <a:avLst/>
          </a:prstGeom>
          <a:solidFill>
            <a:srgbClr val="D4930D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483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FlameTree AI</dc:title>
  <dc:subject>Understanding FlameTree AI</dc:subject>
  <dc:creator>Kimi</dc:creator>
  <cp:lastModifiedBy>Kimi</cp:lastModifiedBy>
  <cp:revision>1</cp:revision>
  <dcterms:created xsi:type="dcterms:W3CDTF">2026-06-04T18:30:39Z</dcterms:created>
  <dcterms:modified xsi:type="dcterms:W3CDTF">2026-06-04T18:30:39Z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{"Label":"Understanding FlameTree AI","ContentProducer":"001191110108MACG2KBH8F10000","ProduceID":"19e93d1a-d332-8464-8000-0000b083fff6","ReservedCode1":"","ContentPropagator":"001191110108MACG2KBH8F20000","PropagateID":"19e93d1a-d332-8464-8000-0000b083fff6","ReservedCode2":""}</vt:lpwstr>
  </property>
</Properties>
</file>